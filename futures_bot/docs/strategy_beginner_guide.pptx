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BBF09-7B9B-52B5-0DCA-CC2CD6AD5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FF5F6C-C673-1499-8781-5C226620F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0AB50-4B9B-EBD1-CB3C-88E511EA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D0036-3F35-D8E4-576B-9FAAE90E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AA1C8-651A-373C-B6AC-2DF1BD03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85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9A04B-6DFB-41D1-A84C-0D4A64AF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E9A99-2C58-DCAD-3265-C45CBDF5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DE434-3737-2258-319A-5BE2DC35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2DE872-9DC5-F6D3-277A-518D16DA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E71B8-2B18-AF37-9241-6288A016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08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25194-1E4F-F152-B2DF-86550683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A9260-80CD-C5A1-4C35-93C1ED1B3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B42E-552A-B716-0967-13DA03DB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DF1A9-26B6-793C-390F-1963FF53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8211D-4E19-4857-C525-FAA15B9F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37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9BAE7-9AAB-B05D-D349-8D2B16E9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9F8BF4-F698-B838-2AB2-73BB7FD7F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AF6ABB-687D-AA05-7D38-C03E16103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67D7DD-2A1E-9B0A-AB16-06DB03DB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252926-7872-030C-ED06-0CF0643B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A1087A-26AC-9666-53B8-83E72192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09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EA7A8-BA75-B934-D0AD-C50B0192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E319C1-1110-0CBB-EC90-57FB5996B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999AF0-ACC1-FAFE-BD1F-F1278A8BA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A850B9-E102-7AFF-7E5B-CE0661DE8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4A22EC-278D-4259-8575-B4236EE92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A37426-FB38-5304-301C-58CB7CDC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4A5E72-5B48-7B7D-D08D-C29D0AD1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9296CC-12D0-E5E3-3901-E4C40E79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26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7C54-362B-FDB4-186E-B5B109EA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982405-223F-AF86-0E12-94E8241D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7362C4-02AA-EE90-B814-47012864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6B9CD6-2B73-AD14-8A00-C6B1421A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51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9ABF6-7896-3727-8360-4F1B922A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7946D6-646B-2B6C-B114-BB604B9D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5533F-6279-3C53-9251-C71D0487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47B7B-0363-A72B-62CD-E856D0D2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F032F-2969-0ACA-35D3-A63071A53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A9AC7E-0FA0-FD27-23F4-20144268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C59245-6C89-0E88-2402-DEF3129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3C4B30-A7E7-1A31-9468-29241406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C1DE22-EABA-9405-036E-E71F20DB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20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10FD6-1AE0-7189-0A0F-D9C277A7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05972-3EED-7C7F-CFEB-34F683354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C3514E-19C2-81EE-9404-4D80E6FB1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5B76F-1A08-2AD7-BD16-D3BA420B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363397-B458-74E9-706D-D943DD8E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F00797-2964-24B5-EFA6-A082F8CD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28AAF-D229-4AFE-971C-EF62AB46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2FD9F6-4CF8-CE66-17A8-21E7FD79B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7FD60-6CA5-0A33-EBF9-3BF57D66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751EA-F11E-8661-3196-5B39CEB4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750687-F16B-1DBE-DD2B-33F04C32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DB4DF4-0F21-6735-C8C4-D96C43D1A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B0843-251B-414E-B414-A4A6AB341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4DE18-F8A1-84FF-51C5-A90F4FDF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2A44F-6C04-0F87-45C3-F01DC298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8E6A5-60E0-1FBC-B6C9-6756F97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94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0B2B3B-CA00-3F78-4C35-E00C1951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63DFF4-8014-0D9C-633F-6F390E346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BB1AD-455D-85EC-B766-481884359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635CC-8D2E-495B-B74F-68AF758A9A20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68C9C-D784-A89D-DF77-11737D721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B3F96-87FF-5760-6477-D81DD9FA4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27BC1-73E3-4D95-9CAF-EDB2FB4F2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95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73EE41-D725-96A1-D487-10B348745C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1DBA0B-C23B-993A-96BB-8664C2ACAABC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EB63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4773E-1975-F1FC-2DA7-E11217C4E981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EMA + Bollinger Band + RSI</a:t>
            </a:r>
            <a:endParaRPr lang="ko-KR" altLang="en-US" sz="3100" b="1">
              <a:solidFill>
                <a:srgbClr val="2A170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F14B7-DE1A-D20B-1327-FB90F08B5275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초보자를 위한 자동매매 전략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6D4A-C72A-4CE5-A82C-4C89849A7241}"/>
              </a:ext>
            </a:extLst>
          </p:cNvPr>
          <p:cNvSpPr txBox="1"/>
          <p:nvPr/>
        </p:nvSpPr>
        <p:spPr>
          <a:xfrm>
            <a:off x="889000" y="2311400"/>
            <a:ext cx="6223000" cy="17953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이 전략은 추세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돌파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힘을 동시에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상승 흐름이면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LONG,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하락 흐름이면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SHORT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을 검토합니다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한 종목에서 동시에 롱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숏을 같이 들고 있지는 않습니다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2EDA719-FD5A-4311-8035-CB1AB77B33BD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3CD00-D639-5D6C-0561-258F4C04876F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핵심 질문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지금 시장이 어느 방향으로 힘 있게 움직이는가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?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92CB3-F952-DA9F-5278-A976BA3D3950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1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47DAF4-EC3F-A3DD-5F70-96A632A73D80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C9BD1D4-FA49-6EE4-E99C-6402902D6617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F87C766-0A4B-93F7-F415-118BD6992818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A3A7DA-65D0-4CF9-FF28-AC62C4F5928F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482F7B-CABF-BAB0-C17D-367D3EF5F2AC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977FDA-6BF5-FFBD-7677-4FB697E089BB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97E35C8-ADB2-0D5D-2965-953721AF8907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239E8FE-D199-1C4C-ECDB-74B989D4354C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1E8067C-0345-ACEB-74EB-EA69192D4AE2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804EA3B-5D34-D25B-EA00-FA5AAFDA3140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BCFAEA9-112E-F8A6-51D7-958C9CBCB740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EAF36B-64BF-4AD5-3ED9-3C456F73EA57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95F3E6-C03E-28FC-448E-21BABAFF7764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947BD-281A-59A5-9A42-E3B0979254B3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79651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AC2A7A-A9FF-F5D4-083C-297825CE10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46EC9-7A3B-6427-6DE0-9A79635608AF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6996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8D244-2F8F-183F-A441-648DB3B3A68D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전체 아이디어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3B041-8353-175D-1331-55FC700EE888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개의 신호가 모두 맞아야 진입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94763-0031-6C75-FC91-1E59A91E041B}"/>
              </a:ext>
            </a:extLst>
          </p:cNvPr>
          <p:cNvSpPr txBox="1"/>
          <p:nvPr/>
        </p:nvSpPr>
        <p:spPr>
          <a:xfrm>
            <a:off x="889000" y="2311400"/>
            <a:ext cx="6223000" cy="19236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EMA: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큰 방향을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볼린저밴드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평소 범위를 벗어난 돌파를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RSI: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그 방향으로 실제 힘이 붙었는지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하나만 맞으면 기다리고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세 가지가 모두 맞을 때만 진입합니다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CAE53B5-6119-F701-AE9F-4753DBBEF9ED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AFEEF-B3A1-9F72-F81A-50D2A948A181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많이 매매하는 전략이 아니라 조건을 강하게 거르는 전략입니다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F13F1-9D90-F644-E56E-391D901BD5D7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2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0B4E2A-F768-36A2-4777-E5FD1EC7A1AA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316645E-2BAA-C074-A6F1-15AC0ACBFEC2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D363C68-EDF6-2796-0D90-C3377112AFBD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87330F0-8FEC-07A0-358C-2CC17290BD4F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4736E1B-C9FC-68CB-B9E4-CAD091C85E89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BCA0AF7-46EA-A299-6296-DA5111E3245A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52DBC9F-9001-D875-8F82-69B58182A7C5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E3D7C78-575E-8C78-00AF-AA256223FA0C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01BFA08-8793-8D35-729B-B705730D1770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82AA0D-160D-E352-E0A9-EEEED2890E83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4574624-41D9-48FF-D43D-4ED2C1848AD1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A13C61-C75E-FDD2-D7B4-FC0BEB886C19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DA2FB8-0FED-D4CF-F359-15CC2F02E832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554843-D63F-F8CC-A295-2E282009394D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137983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ECC2BB-3635-5763-B42D-70FAA0166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BBD18B-1F3C-A247-5715-433C2C92B60B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626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70372-E5D1-0F70-393B-6839C4E378E1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1. EMA </a:t>
            </a:r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추세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AEBB5-18FD-A351-D4C6-7BC51C29B1E4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EMA20</a:t>
            </a:r>
            <a:r>
              <a:rPr lang="ko-KR" altLang="en-US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과 </a:t>
            </a:r>
            <a:r>
              <a:rPr lang="en-US" altLang="ko-KR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EMA60</a:t>
            </a:r>
            <a:r>
              <a:rPr lang="ko-KR" altLang="en-US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으로 방향을 봅니다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293D7-F8C2-364F-0567-7FC2C135A020}"/>
              </a:ext>
            </a:extLst>
          </p:cNvPr>
          <p:cNvSpPr txBox="1"/>
          <p:nvPr/>
        </p:nvSpPr>
        <p:spPr>
          <a:xfrm>
            <a:off x="889000" y="2311400"/>
            <a:ext cx="6223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EMA20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은 최근 가격 변화에 더 민감합니다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EMA60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은 더 긴 흐름을 보여줍니다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EMA20 &gt; EMA60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이면 상승 추세로 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EMA20 &lt; EMA60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이면 하락 추세로 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7AB775-07E0-25A2-61B3-8DC6F984F846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E023D-2105-29B1-2C8D-B2C57CB72340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EMA</a:t>
            </a:r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는 시장의 큰 방향을 거르는 첫 번째 필터입니다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1CDCF-3A64-9DEC-54D8-EF160F7A4672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3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133A39-D549-2A1E-9EB9-93ECF99678FC}"/>
              </a:ext>
            </a:extLst>
          </p:cNvPr>
          <p:cNvSpPr/>
          <p:nvPr/>
        </p:nvSpPr>
        <p:spPr>
          <a:xfrm>
            <a:off x="8382000" y="2349500"/>
            <a:ext cx="3111500" cy="660400"/>
          </a:xfrm>
          <a:prstGeom prst="roundRect">
            <a:avLst/>
          </a:prstGeom>
          <a:solidFill>
            <a:srgbClr val="EB6325"/>
          </a:solidFill>
          <a:ln>
            <a:solidFill>
              <a:srgbClr val="EB6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39A12-AB1B-730D-B9DD-81197EBDF553}"/>
              </a:ext>
            </a:extLst>
          </p:cNvPr>
          <p:cNvSpPr txBox="1"/>
          <p:nvPr/>
        </p:nvSpPr>
        <p:spPr>
          <a:xfrm>
            <a:off x="8763000" y="25019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EMA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방향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6CDF29F-AB89-5933-DED6-D5167D2FD599}"/>
              </a:ext>
            </a:extLst>
          </p:cNvPr>
          <p:cNvCxnSpPr/>
          <p:nvPr/>
        </p:nvCxnSpPr>
        <p:spPr>
          <a:xfrm>
            <a:off x="9931400" y="30607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89FD892-D16F-04E1-88BD-8F2F2E22EFA1}"/>
              </a:ext>
            </a:extLst>
          </p:cNvPr>
          <p:cNvSpPr/>
          <p:nvPr/>
        </p:nvSpPr>
        <p:spPr>
          <a:xfrm>
            <a:off x="8382000" y="3390900"/>
            <a:ext cx="3111500" cy="660400"/>
          </a:xfrm>
          <a:prstGeom prst="roundRect">
            <a:avLst/>
          </a:prstGeom>
          <a:solidFill>
            <a:srgbClr val="699605"/>
          </a:solidFill>
          <a:ln>
            <a:solidFill>
              <a:srgbClr val="699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FDAA5-58C8-BEDE-3A22-854439B80DFF}"/>
              </a:ext>
            </a:extLst>
          </p:cNvPr>
          <p:cNvSpPr txBox="1"/>
          <p:nvPr/>
        </p:nvSpPr>
        <p:spPr>
          <a:xfrm>
            <a:off x="8763000" y="35433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볼린저밴드 돌파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6FECF3-6E38-EA67-5117-2B141314E8EA}"/>
              </a:ext>
            </a:extLst>
          </p:cNvPr>
          <p:cNvCxnSpPr/>
          <p:nvPr/>
        </p:nvCxnSpPr>
        <p:spPr>
          <a:xfrm>
            <a:off x="9931400" y="41021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E07056-5732-0B2B-EDFA-2913706A1DA6}"/>
              </a:ext>
            </a:extLst>
          </p:cNvPr>
          <p:cNvSpPr/>
          <p:nvPr/>
        </p:nvSpPr>
        <p:spPr>
          <a:xfrm>
            <a:off x="8382000" y="4432300"/>
            <a:ext cx="3111500" cy="660400"/>
          </a:xfrm>
          <a:prstGeom prst="roundRect">
            <a:avLst/>
          </a:prstGeom>
          <a:solidFill>
            <a:srgbClr val="2626DC"/>
          </a:solidFill>
          <a:ln>
            <a:solidFill>
              <a:srgbClr val="262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88BF2B-E72A-6230-F0D1-9FEA1769BE27}"/>
              </a:ext>
            </a:extLst>
          </p:cNvPr>
          <p:cNvSpPr txBox="1"/>
          <p:nvPr/>
        </p:nvSpPr>
        <p:spPr>
          <a:xfrm>
            <a:off x="8763000" y="45847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RSI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힘 확인</a:t>
            </a:r>
          </a:p>
        </p:txBody>
      </p:sp>
    </p:spTree>
    <p:extLst>
      <p:ext uri="{BB962C8B-B14F-4D97-AF65-F5344CB8AC3E}">
        <p14:creationId xmlns:p14="http://schemas.microsoft.com/office/powerpoint/2010/main" val="287328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453B11-8D82-5DF5-A19B-769E4712D2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EFF275-C46A-E5C7-1E60-4A7C54491788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ED3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6E8C4-1A1C-F806-B906-37F16DB053ED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볼린저밴드 돌파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71909-1EF8-7F71-58AE-30A97FD7E0B3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D3A7C"/>
                </a:solidFill>
                <a:latin typeface="맑은 고딕" panose="020B0503020000020004" pitchFamily="50" charset="-127"/>
              </a:rPr>
              <a:t>평소 움직임의 범위를 벗어났는지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B1BAC-F32C-D9C5-F763-AD5D2288A63D}"/>
              </a:ext>
            </a:extLst>
          </p:cNvPr>
          <p:cNvSpPr txBox="1"/>
          <p:nvPr/>
        </p:nvSpPr>
        <p:spPr>
          <a:xfrm>
            <a:off x="889000" y="2311400"/>
            <a:ext cx="6223000" cy="14875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상단 밴드 돌파는 강한 상승 시도로 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하단 밴드 이탈은 강한 하락 시도로 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단순 상승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하락이 아니라 평소보다 강한 움직임인지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08FA6B1-B0D6-7527-F7AC-CA6D5D0EF9AE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234B6-25B1-5AB6-8BFF-FC15230F0508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돌파는 추세가 실제 가격 움직임으로 나타나는 순간을 찾는 장치입니다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BE6FC-D21E-41DB-15CE-2E3A5B3AEFD3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4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0E2532-A6BF-EE2F-AF0B-54DA6AF959B5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271EBD-7D26-1461-C2D5-27E204E20016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2664A64-FB80-6301-9D9F-821693FAFE69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8A5BFA-CB23-E6E1-F056-EE3EF634E0CF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C655CE7-D71D-7F0E-5806-C5204D10B523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B12F86E-B2A2-D544-6164-DDFFBDE2D124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E583C8D-62C6-3734-7F2F-072922D4EF34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325A973-D437-0DD8-6A38-D09A7DF03231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9E29539-F53F-A926-3B5B-50EB84EAA115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EFEE61F-4F09-5C3A-8369-9BD8C7067627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0300D96-9ED1-EDE4-C1C2-63989F4A9714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0C5C84-C594-03FE-CFE1-C090B40D430F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8F8DB-A104-7A1B-6DF2-D8B66EAA3FC6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06DA79-93DE-D652-6F65-D650370DDF63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153080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B1A7C-8DF0-DB05-B378-4AFF835B80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9BDFFD-0E3C-EED9-7685-8BD6B1DE4F09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EB63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C41AD-C2AF-8471-5767-67684A8E495C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3. RSI </a:t>
            </a:r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모멘텀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48FC2-E572-0164-7085-F8C4F7291361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가격 움직임에 힘이 있는지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98948-05CD-3619-3116-14CF596B8D59}"/>
              </a:ext>
            </a:extLst>
          </p:cNvPr>
          <p:cNvSpPr txBox="1"/>
          <p:nvPr/>
        </p:nvSpPr>
        <p:spPr>
          <a:xfrm>
            <a:off x="889000" y="2311400"/>
            <a:ext cx="6223000" cy="14875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LONG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52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보다 크고 직전보다 올라야 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SHORT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48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보다 작고 직전보다 내려야 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를 역추세 매매가 아니라 방향 확인용으로 씁니다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09000B9-CAAE-01AE-6B06-AB0D0A42F1F4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804CA-8703-7E53-2F6B-7EAAFD8A4F13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RSI</a:t>
            </a:r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는 움직임이 힘 없이 튄 것인지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실제로 밀고 가는 흐름인지 봅니다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121EA-E477-12C6-820B-43A1168AA7FE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5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24D77DB-81BE-D493-0B3F-7653D238198E}"/>
              </a:ext>
            </a:extLst>
          </p:cNvPr>
          <p:cNvSpPr/>
          <p:nvPr/>
        </p:nvSpPr>
        <p:spPr>
          <a:xfrm>
            <a:off x="8382000" y="2349500"/>
            <a:ext cx="3111500" cy="660400"/>
          </a:xfrm>
          <a:prstGeom prst="roundRect">
            <a:avLst/>
          </a:prstGeom>
          <a:solidFill>
            <a:srgbClr val="EB6325"/>
          </a:solidFill>
          <a:ln>
            <a:solidFill>
              <a:srgbClr val="EB6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96FF5-422C-505F-2CD6-BFB525AC32B1}"/>
              </a:ext>
            </a:extLst>
          </p:cNvPr>
          <p:cNvSpPr txBox="1"/>
          <p:nvPr/>
        </p:nvSpPr>
        <p:spPr>
          <a:xfrm>
            <a:off x="8763000" y="25019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EMA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방향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F505C3D-E8E2-911B-179D-87356A801AE9}"/>
              </a:ext>
            </a:extLst>
          </p:cNvPr>
          <p:cNvCxnSpPr/>
          <p:nvPr/>
        </p:nvCxnSpPr>
        <p:spPr>
          <a:xfrm>
            <a:off x="9931400" y="30607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B24BB4-F091-6781-1A90-ED712DF6DD6A}"/>
              </a:ext>
            </a:extLst>
          </p:cNvPr>
          <p:cNvSpPr/>
          <p:nvPr/>
        </p:nvSpPr>
        <p:spPr>
          <a:xfrm>
            <a:off x="8382000" y="3390900"/>
            <a:ext cx="3111500" cy="660400"/>
          </a:xfrm>
          <a:prstGeom prst="roundRect">
            <a:avLst/>
          </a:prstGeom>
          <a:solidFill>
            <a:srgbClr val="699605"/>
          </a:solidFill>
          <a:ln>
            <a:solidFill>
              <a:srgbClr val="699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3C2324-2D4B-6337-7891-030CAFFF1802}"/>
              </a:ext>
            </a:extLst>
          </p:cNvPr>
          <p:cNvSpPr txBox="1"/>
          <p:nvPr/>
        </p:nvSpPr>
        <p:spPr>
          <a:xfrm>
            <a:off x="8763000" y="35433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볼린저밴드 돌파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B95817B-79F3-AE55-30F1-92D6A035ACDF}"/>
              </a:ext>
            </a:extLst>
          </p:cNvPr>
          <p:cNvCxnSpPr/>
          <p:nvPr/>
        </p:nvCxnSpPr>
        <p:spPr>
          <a:xfrm>
            <a:off x="9931400" y="41021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4E53F91-F840-D0DE-2B20-2F14E62A6FF7}"/>
              </a:ext>
            </a:extLst>
          </p:cNvPr>
          <p:cNvSpPr/>
          <p:nvPr/>
        </p:nvSpPr>
        <p:spPr>
          <a:xfrm>
            <a:off x="8382000" y="4432300"/>
            <a:ext cx="3111500" cy="660400"/>
          </a:xfrm>
          <a:prstGeom prst="roundRect">
            <a:avLst/>
          </a:prstGeom>
          <a:solidFill>
            <a:srgbClr val="2626DC"/>
          </a:solidFill>
          <a:ln>
            <a:solidFill>
              <a:srgbClr val="262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D53104-701A-0F1A-3474-129F9EFF7DEA}"/>
              </a:ext>
            </a:extLst>
          </p:cNvPr>
          <p:cNvSpPr txBox="1"/>
          <p:nvPr/>
        </p:nvSpPr>
        <p:spPr>
          <a:xfrm>
            <a:off x="8763000" y="45847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RSI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힘 확인</a:t>
            </a:r>
          </a:p>
        </p:txBody>
      </p:sp>
    </p:spTree>
    <p:extLst>
      <p:ext uri="{BB962C8B-B14F-4D97-AF65-F5344CB8AC3E}">
        <p14:creationId xmlns:p14="http://schemas.microsoft.com/office/powerpoint/2010/main" val="259530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5B18737-BB44-3362-DAE0-C130AC5075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0F9A4C-6CCE-8015-9488-E97F57BFA465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6996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0BBBC-5C46-D110-F2C7-A845DBAE17CB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LONG </a:t>
            </a:r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진입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9E652-7058-79B4-BF96-AAA6A4763C9F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상승 추세 </a:t>
            </a:r>
            <a:r>
              <a:rPr lang="en-US" altLang="ko-KR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상단 돌파 </a:t>
            </a:r>
            <a:r>
              <a:rPr lang="en-US" altLang="ko-KR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상승 모멘텀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06B7F-C9B2-B331-71F1-45EC3C4E0020}"/>
              </a:ext>
            </a:extLst>
          </p:cNvPr>
          <p:cNvSpPr txBox="1"/>
          <p:nvPr/>
        </p:nvSpPr>
        <p:spPr>
          <a:xfrm>
            <a:off x="889000" y="2311400"/>
            <a:ext cx="6223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EMA20 &gt; EMA60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종가가 직전 기준 볼린저밴드 상단보다 높음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RSI &gt; 52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그리고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가 직전보다 상승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세 조건이 모두 맞을 때만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LONG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신호가 발생합니다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F7FE5A-88BB-F53C-E624-6480916B3746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8092A-DE1B-5113-67A4-DE60D388F503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쉽게 말해 위쪽으로 가는 시장에서 강하게 위로 터질 때만 매수합니다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4AE7A-2D38-0489-1BE2-DFD5E8E38A85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6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BAD766-51AC-D258-ED12-3CF518727ECF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2E5A5A1-2101-3258-AB61-7E83B9049D4B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3038A39-381F-73A4-CB19-5DCD7C6BB2D7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CF9436E-8340-8D27-05AB-40AD2FAF6E8D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11469F0-F5E9-3F3D-0E2C-71B9D7C2C0F5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B1DA92E-D37D-884A-CF21-72E0191ABFAF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9ED3948-E3F6-DA60-82A3-D8D4DDE712B6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FA9DE9D-06AD-820C-7F03-3E4FAB4D2601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5C04344-192D-12E2-804F-08110C4CAD05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1976B91-045E-AC55-E032-E5EEC419FC82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BDAE369-34ED-7FD4-54F1-9A027C9B225C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52A708-1D08-782A-B1CE-2402F4CBDCD6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D335E-40E9-E66A-D919-63E74A3A5516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69431C-B20E-396E-2F5E-DD13C15D5C87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400878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1FC2B1-047D-3A3F-6EAF-EC96F3FA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245747-C6E4-1D4C-DE02-73CE96D23609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626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E656A-B34C-475C-E37B-908A23996141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SHORT </a:t>
            </a:r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진입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12141-02EE-76F5-FFB3-861124F0F346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하락 추세 </a:t>
            </a:r>
            <a:r>
              <a:rPr lang="en-US" altLang="ko-KR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하단 이탈 </a:t>
            </a:r>
            <a:r>
              <a:rPr lang="en-US" altLang="ko-KR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700" b="1">
                <a:solidFill>
                  <a:srgbClr val="2626DC"/>
                </a:solidFill>
                <a:latin typeface="맑은 고딕" panose="020B0503020000020004" pitchFamily="50" charset="-127"/>
              </a:rPr>
              <a:t>하락 모멘텀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8D0E9-2023-74B2-D5B3-E74ACDDD7434}"/>
              </a:ext>
            </a:extLst>
          </p:cNvPr>
          <p:cNvSpPr txBox="1"/>
          <p:nvPr/>
        </p:nvSpPr>
        <p:spPr>
          <a:xfrm>
            <a:off x="889000" y="2311400"/>
            <a:ext cx="6223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EMA20 &lt; EMA60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종가가 직전 기준 볼린저밴드 하단보다 낮음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RSI &lt; 48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그리고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가 직전보다 하락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세 조건이 모두 맞을 때만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SHORT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신호가 발생합니다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16B56F5-8D84-FFA1-30FF-F832640DFD19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03893-D2A5-9806-7C06-135B5D2BCA5A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쉽게 말해 아래쪽으로 가는 시장에서 강하게 아래로 밀릴 때만 매도합니다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17DC2-D396-3D36-262E-EB8E1138D03F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7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FAE017-8D78-B5DA-56E0-B7660042AB2D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ECD30CD-A018-854E-5388-4BBE7CE18142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28E2570-96C4-0BD1-DA6E-4A7C5E4A7051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DC2E67-7530-9277-EE4A-BD64F3FC2E13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A4954F-6779-32AE-C98E-8E315898AC55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5E3055E-937A-E73E-7447-94525C811415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E749DC-BA65-9DD7-7EA3-115EC8D4D1D2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D817A35-C3A1-1FDD-7FAD-B9FC361E6064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9638AED-7577-D2F3-EC9A-9CDF5F6060A2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FBB121-FE7D-BA22-DFED-3D70082B5944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061F396-CBC2-F23D-C90F-679AEBA374DA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86D8F2A-98BE-B36E-C665-80B4CC7D5215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4B782-43CA-AE45-96FA-CC08B92A17F2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D35773-6C3B-05B8-B269-331CF1C26D02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5349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64D985-CB6F-9A50-0E2A-EC8C00349D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E1FB47-D0C7-3260-AA86-0A90C382206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ED3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43900-635A-F668-53A5-A02BB9C0A2BE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리스크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C4677-B86B-836D-8E0B-BF78CC604205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D3A7C"/>
                </a:solidFill>
                <a:latin typeface="맑은 고딕" panose="020B0503020000020004" pitchFamily="50" charset="-127"/>
              </a:rPr>
              <a:t>진입보다 중요한 방어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C1309-AB7B-9B72-7610-4A8EAAEE5BA8}"/>
              </a:ext>
            </a:extLst>
          </p:cNvPr>
          <p:cNvSpPr txBox="1"/>
          <p:nvPr/>
        </p:nvSpPr>
        <p:spPr>
          <a:xfrm>
            <a:off x="889000" y="2311400"/>
            <a:ext cx="6223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1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회 거래 손실 한도는 계좌의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0.5%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손절폭은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ATR x 1.5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로 계산합니다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익절폭은 손절폭의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1.8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배입니다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하루 손실이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-3%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에 도달하면 신규 진입을 멈춥니다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4A6BC1-EDC2-E6F3-ECDF-C71CE4CB234C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FEB9D-D05A-F6CD-4391-E043EFA41891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전략이 틀릴 수 있다는 전제로 손실 크기를 먼저 제한합니다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ADB8C-726F-D0A8-A2A8-61F91FD66EF4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8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83D4820-977A-AE33-E3CA-5F101EFAF129}"/>
              </a:ext>
            </a:extLst>
          </p:cNvPr>
          <p:cNvSpPr/>
          <p:nvPr/>
        </p:nvSpPr>
        <p:spPr>
          <a:xfrm>
            <a:off x="8382000" y="2349500"/>
            <a:ext cx="3111500" cy="660400"/>
          </a:xfrm>
          <a:prstGeom prst="roundRect">
            <a:avLst/>
          </a:prstGeom>
          <a:solidFill>
            <a:srgbClr val="EB6325"/>
          </a:solidFill>
          <a:ln>
            <a:solidFill>
              <a:srgbClr val="EB6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D7C8A-5970-3A42-CDD0-48F9AD4785A5}"/>
              </a:ext>
            </a:extLst>
          </p:cNvPr>
          <p:cNvSpPr txBox="1"/>
          <p:nvPr/>
        </p:nvSpPr>
        <p:spPr>
          <a:xfrm>
            <a:off x="8763000" y="25019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EMA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방향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D5AA5D6-A101-7386-FB20-7A06656B6BC5}"/>
              </a:ext>
            </a:extLst>
          </p:cNvPr>
          <p:cNvCxnSpPr/>
          <p:nvPr/>
        </p:nvCxnSpPr>
        <p:spPr>
          <a:xfrm>
            <a:off x="9931400" y="30607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7A3689-BA63-7895-19BD-D917D4DCDBF2}"/>
              </a:ext>
            </a:extLst>
          </p:cNvPr>
          <p:cNvSpPr/>
          <p:nvPr/>
        </p:nvSpPr>
        <p:spPr>
          <a:xfrm>
            <a:off x="8382000" y="3390900"/>
            <a:ext cx="3111500" cy="660400"/>
          </a:xfrm>
          <a:prstGeom prst="roundRect">
            <a:avLst/>
          </a:prstGeom>
          <a:solidFill>
            <a:srgbClr val="699605"/>
          </a:solidFill>
          <a:ln>
            <a:solidFill>
              <a:srgbClr val="699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1E4CA-0836-A6A0-5EEF-D8F9D8D669A9}"/>
              </a:ext>
            </a:extLst>
          </p:cNvPr>
          <p:cNvSpPr txBox="1"/>
          <p:nvPr/>
        </p:nvSpPr>
        <p:spPr>
          <a:xfrm>
            <a:off x="8763000" y="35433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볼린저밴드 돌파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D92695B-3D6E-F024-96F4-FDAC62573E7C}"/>
              </a:ext>
            </a:extLst>
          </p:cNvPr>
          <p:cNvCxnSpPr/>
          <p:nvPr/>
        </p:nvCxnSpPr>
        <p:spPr>
          <a:xfrm>
            <a:off x="9931400" y="41021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907FDB0-DC6E-4E4A-0081-1C1E0E9F42C3}"/>
              </a:ext>
            </a:extLst>
          </p:cNvPr>
          <p:cNvSpPr/>
          <p:nvPr/>
        </p:nvSpPr>
        <p:spPr>
          <a:xfrm>
            <a:off x="8382000" y="4432300"/>
            <a:ext cx="3111500" cy="660400"/>
          </a:xfrm>
          <a:prstGeom prst="roundRect">
            <a:avLst/>
          </a:prstGeom>
          <a:solidFill>
            <a:srgbClr val="2626DC"/>
          </a:solidFill>
          <a:ln>
            <a:solidFill>
              <a:srgbClr val="262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DF2F65-23EE-5A0D-AB72-666B504A1A70}"/>
              </a:ext>
            </a:extLst>
          </p:cNvPr>
          <p:cNvSpPr txBox="1"/>
          <p:nvPr/>
        </p:nvSpPr>
        <p:spPr>
          <a:xfrm>
            <a:off x="8763000" y="45847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RSI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힘 확인</a:t>
            </a:r>
          </a:p>
        </p:txBody>
      </p:sp>
    </p:spTree>
    <p:extLst>
      <p:ext uri="{BB962C8B-B14F-4D97-AF65-F5344CB8AC3E}">
        <p14:creationId xmlns:p14="http://schemas.microsoft.com/office/powerpoint/2010/main" val="161436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488376-6578-E29D-4E0F-53EBE04C15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2A8C02-619A-3E7F-0A46-1A651C61E1F3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EB63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D86444-9459-D834-E25C-0EFD9CA57039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실행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48E8C-E0B9-CE26-35C7-071B23902FFE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초마다 감시</a:t>
            </a:r>
            <a:r>
              <a:rPr lang="en-US" altLang="ko-KR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, 15</a:t>
            </a:r>
            <a:r>
              <a:rPr lang="ko-KR" altLang="en-US" sz="1700" b="1">
                <a:solidFill>
                  <a:srgbClr val="EB6325"/>
                </a:solidFill>
                <a:latin typeface="맑은 고딕" panose="020B0503020000020004" pitchFamily="50" charset="-127"/>
              </a:rPr>
              <a:t>분봉 확정 때 판단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3B282-880A-EC0D-AEE2-A679346AE65A}"/>
              </a:ext>
            </a:extLst>
          </p:cNvPr>
          <p:cNvSpPr txBox="1"/>
          <p:nvPr/>
        </p:nvSpPr>
        <p:spPr>
          <a:xfrm>
            <a:off x="889000" y="2311400"/>
            <a:ext cx="6223000" cy="223138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봇은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초마다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BTC/ETH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상태를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새 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분봉이 확정됐을 때만 진입 신호를 계산합니다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진입하면 시장가 주문 후 손절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익절 예약주문을 함께 둡니다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손절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익절 체결은 다음 폴링에서 감지하고 알림을 보냅니다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61B99C-456B-56D1-0F1E-00E1021C3128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83E8C-8877-3077-F5DC-6F092FA1D12C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자주 감시하지만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매매 판단은 캔들이 확정된 순간에만 합니다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FC02E-9F0B-25B2-0BAF-DDBD80127CD3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9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4002EAA-241F-4816-437F-FD4B8F005513}"/>
              </a:ext>
            </a:extLst>
          </p:cNvPr>
          <p:cNvSpPr/>
          <p:nvPr/>
        </p:nvSpPr>
        <p:spPr>
          <a:xfrm>
            <a:off x="8382000" y="2349500"/>
            <a:ext cx="3111500" cy="660400"/>
          </a:xfrm>
          <a:prstGeom prst="roundRect">
            <a:avLst/>
          </a:prstGeom>
          <a:solidFill>
            <a:srgbClr val="EB6325"/>
          </a:solidFill>
          <a:ln>
            <a:solidFill>
              <a:srgbClr val="EB6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B96E8-A051-516C-6C31-629AA5DBE2C8}"/>
              </a:ext>
            </a:extLst>
          </p:cNvPr>
          <p:cNvSpPr txBox="1"/>
          <p:nvPr/>
        </p:nvSpPr>
        <p:spPr>
          <a:xfrm>
            <a:off x="8763000" y="25019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EMA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방향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28ABE35-EAA7-D867-2978-1E1EBFCB00AA}"/>
              </a:ext>
            </a:extLst>
          </p:cNvPr>
          <p:cNvCxnSpPr/>
          <p:nvPr/>
        </p:nvCxnSpPr>
        <p:spPr>
          <a:xfrm>
            <a:off x="9931400" y="30607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E078B7-02C5-3F31-6FB6-F8E800B2E529}"/>
              </a:ext>
            </a:extLst>
          </p:cNvPr>
          <p:cNvSpPr/>
          <p:nvPr/>
        </p:nvSpPr>
        <p:spPr>
          <a:xfrm>
            <a:off x="8382000" y="3390900"/>
            <a:ext cx="3111500" cy="660400"/>
          </a:xfrm>
          <a:prstGeom prst="roundRect">
            <a:avLst/>
          </a:prstGeom>
          <a:solidFill>
            <a:srgbClr val="699605"/>
          </a:solidFill>
          <a:ln>
            <a:solidFill>
              <a:srgbClr val="699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3D12BB-EF8E-5143-EE5C-551128E3C28F}"/>
              </a:ext>
            </a:extLst>
          </p:cNvPr>
          <p:cNvSpPr txBox="1"/>
          <p:nvPr/>
        </p:nvSpPr>
        <p:spPr>
          <a:xfrm>
            <a:off x="8763000" y="35433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볼린저밴드 돌파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5851A58-D16C-D0F5-DB85-34EF355E716D}"/>
              </a:ext>
            </a:extLst>
          </p:cNvPr>
          <p:cNvCxnSpPr/>
          <p:nvPr/>
        </p:nvCxnSpPr>
        <p:spPr>
          <a:xfrm>
            <a:off x="9931400" y="4102100"/>
            <a:ext cx="0" cy="279400"/>
          </a:xfrm>
          <a:prstGeom prst="line">
            <a:avLst/>
          </a:prstGeom>
          <a:ln w="2540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E6F958-61ED-71A2-EF61-7D3307CDE9DF}"/>
              </a:ext>
            </a:extLst>
          </p:cNvPr>
          <p:cNvSpPr/>
          <p:nvPr/>
        </p:nvSpPr>
        <p:spPr>
          <a:xfrm>
            <a:off x="8382000" y="4432300"/>
            <a:ext cx="3111500" cy="660400"/>
          </a:xfrm>
          <a:prstGeom prst="roundRect">
            <a:avLst/>
          </a:prstGeom>
          <a:solidFill>
            <a:srgbClr val="2626DC"/>
          </a:solidFill>
          <a:ln>
            <a:solidFill>
              <a:srgbClr val="262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9A416-A001-6511-B44E-12AA0C9B270A}"/>
              </a:ext>
            </a:extLst>
          </p:cNvPr>
          <p:cNvSpPr txBox="1"/>
          <p:nvPr/>
        </p:nvSpPr>
        <p:spPr>
          <a:xfrm>
            <a:off x="8763000" y="4584700"/>
            <a:ext cx="241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RSI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힘 확인</a:t>
            </a:r>
          </a:p>
        </p:txBody>
      </p:sp>
    </p:spTree>
    <p:extLst>
      <p:ext uri="{BB962C8B-B14F-4D97-AF65-F5344CB8AC3E}">
        <p14:creationId xmlns:p14="http://schemas.microsoft.com/office/powerpoint/2010/main" val="360332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FA8467-04B8-C6A7-43AF-9E35F5C1F2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7842B0-7C46-DDFA-426E-4E440B4A051E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6996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34D9E-30A3-B1ED-5A82-FEB94130E479}"/>
              </a:ext>
            </a:extLst>
          </p:cNvPr>
          <p:cNvSpPr txBox="1"/>
          <p:nvPr/>
        </p:nvSpPr>
        <p:spPr>
          <a:xfrm>
            <a:off x="736600" y="736600"/>
            <a:ext cx="6858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100" b="1">
                <a:solidFill>
                  <a:srgbClr val="2A170F"/>
                </a:solidFill>
                <a:latin typeface="맑은 고딕" panose="020B0503020000020004" pitchFamily="50" charset="-127"/>
              </a:rPr>
              <a:t>한 줄 요약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BC8FE-E035-7816-A61F-97C340E92AD5}"/>
              </a:ext>
            </a:extLst>
          </p:cNvPr>
          <p:cNvSpPr txBox="1"/>
          <p:nvPr/>
        </p:nvSpPr>
        <p:spPr>
          <a:xfrm>
            <a:off x="762000" y="1447800"/>
            <a:ext cx="685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방향</a:t>
            </a:r>
            <a:r>
              <a:rPr lang="en-US" altLang="ko-KR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돌파</a:t>
            </a:r>
            <a:r>
              <a:rPr lang="en-US" altLang="ko-KR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699605"/>
                </a:solidFill>
                <a:latin typeface="맑은 고딕" panose="020B0503020000020004" pitchFamily="50" charset="-127"/>
              </a:rPr>
              <a:t>힘을 모두 확인하는 전략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B74E9-8264-4D31-E8A4-776C7E11441D}"/>
              </a:ext>
            </a:extLst>
          </p:cNvPr>
          <p:cNvSpPr txBox="1"/>
          <p:nvPr/>
        </p:nvSpPr>
        <p:spPr>
          <a:xfrm>
            <a:off x="889000" y="2311400"/>
            <a:ext cx="6223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EMA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로 방향을 고릅니다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볼린저밴드로 강한 돌파를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RSI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로 그 돌파에 힘이 있는지 확인합니다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• ATR 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기반 손절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000">
                <a:solidFill>
                  <a:srgbClr val="37291F"/>
                </a:solidFill>
                <a:latin typeface="맑은 고딕" panose="020B0503020000020004" pitchFamily="50" charset="-127"/>
              </a:rPr>
              <a:t>익절로 위험을 제한합니다</a:t>
            </a:r>
            <a:r>
              <a:rPr lang="en-US" altLang="ko-KR" sz="2000">
                <a:solidFill>
                  <a:srgbClr val="37291F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3729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913CEF-F808-13BE-ED62-6A956B56D7CD}"/>
              </a:ext>
            </a:extLst>
          </p:cNvPr>
          <p:cNvSpPr/>
          <p:nvPr/>
        </p:nvSpPr>
        <p:spPr>
          <a:xfrm>
            <a:off x="762000" y="5689600"/>
            <a:ext cx="10604500" cy="660400"/>
          </a:xfrm>
          <a:prstGeom prst="roundRect">
            <a:avLst/>
          </a:prstGeom>
          <a:solidFill>
            <a:srgbClr val="FEF2E0"/>
          </a:solidFill>
          <a:ln>
            <a:solidFill>
              <a:srgbClr val="FDE6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24133-58B2-7DFA-FFC2-DF76DE5E284D}"/>
              </a:ext>
            </a:extLst>
          </p:cNvPr>
          <p:cNvSpPr txBox="1"/>
          <p:nvPr/>
        </p:nvSpPr>
        <p:spPr>
          <a:xfrm>
            <a:off x="1066800" y="58674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조건이 맞을 때만 들어가는 필터형 추세 돌파 전략입니다</a:t>
            </a:r>
            <a:r>
              <a:rPr lang="en-US" altLang="ko-KR" sz="1500" b="1">
                <a:solidFill>
                  <a:srgbClr val="855907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85590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4ACAF-150B-5B82-C1D7-316C2EBA40B8}"/>
              </a:ext>
            </a:extLst>
          </p:cNvPr>
          <p:cNvSpPr txBox="1"/>
          <p:nvPr/>
        </p:nvSpPr>
        <p:spPr>
          <a:xfrm>
            <a:off x="11557000" y="6413500"/>
            <a:ext cx="38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8B7464"/>
                </a:solidFill>
                <a:latin typeface="맑은 고딕" panose="020B0503020000020004" pitchFamily="50" charset="-127"/>
              </a:rPr>
              <a:t>10</a:t>
            </a:r>
            <a:endParaRPr lang="ko-KR" altLang="en-US" sz="1000">
              <a:solidFill>
                <a:srgbClr val="8B74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1CB85C-64B5-5D4B-DABA-DAA5C589AC2E}"/>
              </a:ext>
            </a:extLst>
          </p:cNvPr>
          <p:cNvSpPr/>
          <p:nvPr/>
        </p:nvSpPr>
        <p:spPr>
          <a:xfrm>
            <a:off x="7874000" y="2095500"/>
            <a:ext cx="4191000" cy="2984500"/>
          </a:xfrm>
          <a:prstGeom prst="rect">
            <a:avLst/>
          </a:prstGeom>
          <a:solidFill>
            <a:srgbClr val="FCFAF8"/>
          </a:solidFill>
          <a:ln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4386F2A-5FEA-1953-209E-923F2E25AFAF}"/>
              </a:ext>
            </a:extLst>
          </p:cNvPr>
          <p:cNvCxnSpPr/>
          <p:nvPr/>
        </p:nvCxnSpPr>
        <p:spPr>
          <a:xfrm>
            <a:off x="8255000" y="2603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1CC05E2-868A-14FE-1E8D-51675115E31A}"/>
              </a:ext>
            </a:extLst>
          </p:cNvPr>
          <p:cNvCxnSpPr/>
          <p:nvPr/>
        </p:nvCxnSpPr>
        <p:spPr>
          <a:xfrm>
            <a:off x="8255000" y="3619500"/>
            <a:ext cx="3429000" cy="0"/>
          </a:xfrm>
          <a:prstGeom prst="line">
            <a:avLst/>
          </a:prstGeom>
          <a:ln w="12700">
            <a:solidFill>
              <a:srgbClr val="E1D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D00FAD-C305-0B15-EE43-E910FAC75B86}"/>
              </a:ext>
            </a:extLst>
          </p:cNvPr>
          <p:cNvCxnSpPr/>
          <p:nvPr/>
        </p:nvCxnSpPr>
        <p:spPr>
          <a:xfrm>
            <a:off x="8255000" y="4635500"/>
            <a:ext cx="3429000" cy="0"/>
          </a:xfrm>
          <a:prstGeom prst="line">
            <a:avLst/>
          </a:prstGeom>
          <a:ln w="19050">
            <a:solidFill>
              <a:srgbClr val="8B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4C6C276-9E31-1AE5-3688-F2D5A1C99FE9}"/>
              </a:ext>
            </a:extLst>
          </p:cNvPr>
          <p:cNvCxnSpPr/>
          <p:nvPr/>
        </p:nvCxnSpPr>
        <p:spPr>
          <a:xfrm flipV="1">
            <a:off x="8255000" y="2921000"/>
            <a:ext cx="3429000" cy="1460500"/>
          </a:xfrm>
          <a:prstGeom prst="line">
            <a:avLst/>
          </a:prstGeom>
          <a:ln w="38100">
            <a:solidFill>
              <a:srgbClr val="EB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D3D2C1-BD96-AF3B-D148-19BE6C2C7B59}"/>
              </a:ext>
            </a:extLst>
          </p:cNvPr>
          <p:cNvCxnSpPr/>
          <p:nvPr/>
        </p:nvCxnSpPr>
        <p:spPr>
          <a:xfrm flipV="1">
            <a:off x="8255000" y="3619500"/>
            <a:ext cx="3429000" cy="1016000"/>
          </a:xfrm>
          <a:prstGeom prst="line">
            <a:avLst/>
          </a:prstGeom>
          <a:ln w="38100">
            <a:solidFill>
              <a:srgbClr val="262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B3C19F8-E00C-C949-CF77-BBBA9C126546}"/>
              </a:ext>
            </a:extLst>
          </p:cNvPr>
          <p:cNvCxnSpPr/>
          <p:nvPr/>
        </p:nvCxnSpPr>
        <p:spPr>
          <a:xfrm flipV="1">
            <a:off x="8445500" y="4102100"/>
            <a:ext cx="571500" cy="3429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925283D-496E-09C7-3148-2833E20724BE}"/>
              </a:ext>
            </a:extLst>
          </p:cNvPr>
          <p:cNvCxnSpPr/>
          <p:nvPr/>
        </p:nvCxnSpPr>
        <p:spPr>
          <a:xfrm>
            <a:off x="9017000" y="4102100"/>
            <a:ext cx="635000" cy="279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2801AC-C3EB-230F-EC9A-DD4F2067CC40}"/>
              </a:ext>
            </a:extLst>
          </p:cNvPr>
          <p:cNvCxnSpPr/>
          <p:nvPr/>
        </p:nvCxnSpPr>
        <p:spPr>
          <a:xfrm flipV="1">
            <a:off x="9652000" y="3429000"/>
            <a:ext cx="698500" cy="9525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B936544-70E4-5438-59CB-7F859EB08ADC}"/>
              </a:ext>
            </a:extLst>
          </p:cNvPr>
          <p:cNvCxnSpPr/>
          <p:nvPr/>
        </p:nvCxnSpPr>
        <p:spPr>
          <a:xfrm flipV="1">
            <a:off x="10350500" y="2768600"/>
            <a:ext cx="825500" cy="6604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9ABD93C-7331-E65D-63CA-8274F051AF18}"/>
              </a:ext>
            </a:extLst>
          </p:cNvPr>
          <p:cNvCxnSpPr/>
          <p:nvPr/>
        </p:nvCxnSpPr>
        <p:spPr>
          <a:xfrm flipV="1">
            <a:off x="11176000" y="2413000"/>
            <a:ext cx="571500" cy="355600"/>
          </a:xfrm>
          <a:prstGeom prst="line">
            <a:avLst/>
          </a:prstGeom>
          <a:ln w="38100">
            <a:solidFill>
              <a:srgbClr val="2718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C474EF-FBB4-B0DB-1ACD-4C6101A675EB}"/>
              </a:ext>
            </a:extLst>
          </p:cNvPr>
          <p:cNvSpPr txBox="1"/>
          <p:nvPr/>
        </p:nvSpPr>
        <p:spPr>
          <a:xfrm>
            <a:off x="8293100" y="2286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상단 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FACBD-57C2-8CC9-9BA6-EDD2A32C1CD7}"/>
              </a:ext>
            </a:extLst>
          </p:cNvPr>
          <p:cNvSpPr txBox="1"/>
          <p:nvPr/>
        </p:nvSpPr>
        <p:spPr>
          <a:xfrm>
            <a:off x="8293100" y="4699000"/>
            <a:ext cx="152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8B7464"/>
                </a:solidFill>
                <a:latin typeface="맑은 고딕" panose="020B0503020000020004" pitchFamily="50" charset="-127"/>
              </a:rPr>
              <a:t>하단 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B93FE-122F-92CD-4850-3640249089A2}"/>
              </a:ext>
            </a:extLst>
          </p:cNvPr>
          <p:cNvSpPr txBox="1"/>
          <p:nvPr/>
        </p:nvSpPr>
        <p:spPr>
          <a:xfrm>
            <a:off x="8128000" y="54610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71811"/>
                </a:solidFill>
                <a:latin typeface="맑은 고딕" panose="020B0503020000020004" pitchFamily="50" charset="-127"/>
              </a:rPr>
              <a:t>밴드 밖으로 강하게 움직이는 순간</a:t>
            </a:r>
          </a:p>
        </p:txBody>
      </p:sp>
    </p:spTree>
    <p:extLst>
      <p:ext uri="{BB962C8B-B14F-4D97-AF65-F5344CB8AC3E}">
        <p14:creationId xmlns:p14="http://schemas.microsoft.com/office/powerpoint/2010/main" val="410634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사용자 지정</PresentationFormat>
  <Paragraphs>107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웅 정</dc:creator>
  <cp:lastModifiedBy>웅 정</cp:lastModifiedBy>
  <cp:revision>1</cp:revision>
  <dcterms:created xsi:type="dcterms:W3CDTF">2026-07-05T16:05:24Z</dcterms:created>
  <dcterms:modified xsi:type="dcterms:W3CDTF">2026-07-05T16:05:24Z</dcterms:modified>
</cp:coreProperties>
</file>